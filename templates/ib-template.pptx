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营收（亿元）</c:v>
                </c:pt>
              </c:strCache>
            </c:strRef>
          </c:tx>
          <c:spPr>
            <a:solidFill>
              <a:srgbClr val="0B2C5C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48.2</c:v>
                </c:pt>
                <c:pt idx="1">
                  <c:v>52.7</c:v>
                </c:pt>
                <c:pt idx="2">
                  <c:v>57.3</c:v>
                </c:pt>
                <c:pt idx="3">
                  <c:v>61.0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50">
                  <a:solidFill>
                    <a:srgbClr val="5A6B8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C9D2D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1847088"/>
            <a:ext cx="1463040" cy="28575"/>
          </a:xfrm>
          <a:prstGeom prst="rect">
            <a:avLst/>
          </a:prstGeom>
          <a:solidFill>
            <a:srgbClr val="B9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057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40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项目名称 — 交易概览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063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Project Name — Transaction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呈送：董事会 / 投资委员会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5989320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1200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2026 年 10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10963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保密声明与重要提示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170432"/>
            <a:ext cx="10972800" cy="381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本文件仅供讨论使用，所载信息基于公开资料与管理层提供的数据整理，未经独立审计。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本文件包含的预测与展望性陈述（以 E 标注）基于当前假设，实际结果可能存在重大差异。</a:t>
            </a:r>
          </a:p>
          <a:p>
            <a:pPr algn="l">
              <a:lnSpc>
                <a:spcPct val="155000"/>
              </a:lnSpc>
            </a:pP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未经许可，不得复制、转发或向任何第三方披露本文件内容。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2764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Source: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3128" y="6327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327648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37744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5400" b="1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2542032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8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行业与市场分析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9192" y="3310128"/>
            <a:ext cx="1463040" cy="28575"/>
          </a:xfrm>
          <a:prstGeom prst="rect">
            <a:avLst/>
          </a:prstGeom>
          <a:solidFill>
            <a:srgbClr val="B9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32764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Source: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3128" y="6327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327648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财务分析 · FINANCIAL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8521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营收连续四季增长，四季度达 61 亿元（结论式标题）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381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▪ </a:t>
            </a:r>
            <a:r>
              <a:rPr sz="1350" b="1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增长来源：</a:t>
            </a: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增量主要来自替换胎市场放量与高毛利产品占比提升，单季毛利率环比 +1.8pct。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514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▪ </a:t>
            </a:r>
            <a:r>
              <a:rPr sz="1350" b="1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口径提示：</a:t>
            </a: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本页数字为示例数据，仅用于演示版式；正式稿须逐项标注来源与期间口径。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474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5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▪ </a:t>
            </a:r>
            <a:r>
              <a:rPr sz="1350" b="1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写作规则：</a:t>
            </a:r>
            <a:r>
              <a:rPr sz="135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每页只讲一个结论；标题写完整结论句，正文只做证据与标注，不写三段以上文字。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663440"/>
            <a:ext cx="351129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864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61 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54132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四季度营收（示例）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4663440"/>
            <a:ext cx="351129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864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+12.4%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4132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同比增速（示例）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4663440"/>
            <a:ext cx="3511296" cy="1188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486460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18.6%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54132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毛利率（示例）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2764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Source: 示例数据（演示口径）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6327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327648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可比公司分析 · COMPARABLES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8521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可比公司：头部企业收入规模与盈利能力对比（示例数据）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381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5544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2560320"/>
                <a:gridCol w="2560320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公司</a:t>
                      </a:r>
                    </a:p>
                  </a:txBody>
                  <a:tcPr marL="109728" marR="109728" marT="45720" marB="45720">
                    <a:solidFill>
                      <a:srgbClr val="0B2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营收（亿元）</a:t>
                      </a:r>
                    </a:p>
                  </a:txBody>
                  <a:tcPr marL="109728" marR="109728" marT="45720" marB="45720">
                    <a:solidFill>
                      <a:srgbClr val="0B2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同比增速</a:t>
                      </a:r>
                    </a:p>
                  </a:txBody>
                  <a:tcPr marL="109728" marR="109728" marT="45720" marB="45720">
                    <a:solidFill>
                      <a:srgbClr val="0B2C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毛利率</a:t>
                      </a:r>
                    </a:p>
                  </a:txBody>
                  <a:tcPr marL="109728" marR="109728" marT="45720" marB="45720">
                    <a:solidFill>
                      <a:srgbClr val="0B2C5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公司 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245.6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+9.8%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21.3%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公司 B</a:t>
                      </a:r>
                    </a:p>
                  </a:txBody>
                  <a:tcPr marL="109728" marR="109728" marT="45720" marB="45720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187.2</a:t>
                      </a:r>
                    </a:p>
                  </a:txBody>
                  <a:tcPr marL="109728" marR="109728" marT="45720" marB="45720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+6.1%</a:t>
                      </a:r>
                    </a:p>
                  </a:txBody>
                  <a:tcPr marL="109728" marR="109728" marT="45720" marB="45720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19.8%</a:t>
                      </a:r>
                    </a:p>
                  </a:txBody>
                  <a:tcPr marL="109728" marR="109728" marT="45720" marB="45720"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公司 C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132.9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+12.4%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18.6%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行业平均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188.6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+9.4%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4243D"/>
                          </a:solidFill>
                          <a:latin typeface="Arial"/>
                          <a:ea typeface="Microsoft YaHei"/>
                          <a:cs typeface="Arial"/>
                        </a:rPr>
                        <a:t>19.9%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4892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注：单位写进表头，数字右对齐、千分位、小数位全表统一；合计/均值行上方加主色线、数字加粗（§5）。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2764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Source: 示例数据（演示口径）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6327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327648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5A6B84"/>
                </a:solidFill>
                <a:latin typeface="Arial"/>
                <a:ea typeface="Microsoft YaHei"/>
                <a:cs typeface="Arial"/>
              </a:rPr>
              <a:t>财务分析 · FINANCIAL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8521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0B2C5C"/>
                </a:solidFill>
                <a:latin typeface="Arial"/>
                <a:ea typeface="Microsoft YaHei"/>
                <a:cs typeface="Arial"/>
              </a:rPr>
              <a:t>季度营收稳步爬坡，四季度创单季新高（示例数据）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381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2648" y="150876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778240" y="1508760"/>
            <a:ext cx="27432" cy="4206240"/>
          </a:xfrm>
          <a:prstGeom prst="rect">
            <a:avLst/>
          </a:prstGeom>
          <a:solidFill>
            <a:srgbClr val="C9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54480"/>
            <a:ext cx="25603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要点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· 同系深浅配色，焦点柱才用强调红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· 关键点必标数据标签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4243D"/>
                </a:solidFill>
                <a:latin typeface="Arial"/>
                <a:ea typeface="Microsoft YaHei"/>
                <a:cs typeface="Arial"/>
              </a:rPr>
              <a:t>· 截断坐标轴必须显式标注断轴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2764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Source: 示例数据（演示口径）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6327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327648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6E7B8D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2651760"/>
            <a:ext cx="1463040" cy="28575"/>
          </a:xfrm>
          <a:prstGeom prst="rect">
            <a:avLst/>
          </a:prstGeom>
          <a:solidFill>
            <a:srgbClr val="B99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2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下一步与时间表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Next steps — 管理层确认估值区间后，两周内提交正式 pitch book。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10963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25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Confidential — For discussion purposes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4552" y="6382512"/>
            <a:ext cx="301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5000"/>
              </a:lnSpc>
            </a:pPr>
            <a:r>
              <a:rPr sz="825" b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