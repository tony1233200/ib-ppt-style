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7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charts/chart301.xml" ContentType="application/vnd.openxmlformats-officedocument.drawingml.chart+xml"/>
  <Override PartName="/ppt/charts/chart601.xml" ContentType="application/vnd.openxmlformats-officedocument.drawingml.chart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2000" cy="6858000" type="screen16x9"/>
  <p:notesSz cx="6858000" cy="9144000"/>
  <p:defaultTextStyle>
    <a:defPPr>
      <a:defRPr lang="zh-CN"/>
    </a:defPPr>
    <a:lvl1pPr marL="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 lang="zh-CN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charts/_rels/chart3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301.xlsx"/>
</Relationships>
</file>

<file path=ppt/charts/_rels/chart601.xml.rels><?xml version="1.0" encoding="UTF-8" standalone="yes"?>
<Relationships xmlns="http://schemas.openxmlformats.org/package/2006/relationships">
<Relationship Id="rId1" Type="http://schemas.openxmlformats.org/officeDocument/2006/relationships/package" Target="../embeddings/Microsoft_Excel_Sheet601.xlsx"/>
</Relationships>
</file>

<file path=ppt/charts/chart3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29901960784"/>
          <c:y val="0.0652173913043"/>
          <c:w val="0.845588235294"/>
          <c:h val="0.739130434783"/>
        </c:manualLayout>
      </c:layout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轮胎产量</c:v>
                </c:pt>
              </c:strCache>
            </c:strRef>
          </c:tx>
          <c:spPr>
            <a:solidFill>
              <a:srgbClr val="0B2C5C"/>
            </a:solidFill>
            <a:ln>
              <a:solidFill>
                <a:srgbClr val="0B2C5C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0B2C5C"/>
              </a:solidFill>
              <a:ln>
                <a:solidFill>
                  <a:srgbClr val="0B2C5C"/>
                </a:solidFill>
              </a:ln>
            </c:spPr>
          </c:dPt>
          <c:dPt>
            <c:idx val="1"/>
            <c:invertIfNegative val="0"/>
            <c:spPr>
              <a:solidFill>
                <a:srgbClr val="0B2C5C"/>
              </a:solidFill>
              <a:ln>
                <a:solidFill>
                  <a:srgbClr val="0B2C5C"/>
                </a:solidFill>
              </a:ln>
            </c:spPr>
          </c:dPt>
          <c:dPt>
            <c:idx val="2"/>
            <c:invertIfNegative val="0"/>
            <c:spPr>
              <a:solidFill>
                <a:srgbClr val="0B2C5C"/>
              </a:solidFill>
              <a:ln>
                <a:solidFill>
                  <a:srgbClr val="0B2C5C"/>
                </a:solidFill>
              </a:ln>
            </c:spPr>
          </c:dPt>
          <c:dPt>
            <c:idx val="3"/>
            <c:invertIfNegative val="0"/>
            <c:spPr>
              <a:solidFill>
                <a:srgbClr val="0B2C5C"/>
              </a:solidFill>
              <a:ln>
                <a:solidFill>
                  <a:srgbClr val="0B2C5C"/>
                </a:solidFill>
              </a:ln>
            </c:spPr>
          </c:dPt>
          <c:dPt>
            <c:idx val="4"/>
            <c:invertIfNegative val="0"/>
            <c:spPr>
              <a:solidFill>
                <a:srgbClr val="0B2C5C"/>
              </a:solidFill>
              <a:ln>
                <a:solidFill>
                  <a:srgbClr val="0B2C5C"/>
                </a:solidFill>
              </a:ln>
            </c:spPr>
          </c:dPt>
          <c:dPt>
            <c:idx val="5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8.2</c:v>
                </c:pt>
                <c:pt idx="1">
                  <c:v>9</c:v>
                </c:pt>
                <c:pt idx="2">
                  <c:v>8.6</c:v>
                </c:pt>
                <c:pt idx="3">
                  <c:v>9.9</c:v>
                </c:pt>
                <c:pt idx="4">
                  <c:v>10.7</c:v>
                </c:pt>
                <c:pt idx="5">
                  <c:v>11.2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lang="zh-CN" sz="1050">
                  <a:solidFill>
                    <a:srgbClr val="5A6B84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0"/>
        <c:axId val="2068027336"/>
        <c:axId val="2113994440"/>
      </c:barChart>
      <c:catAx>
        <c:axId val="2068027336"/>
        <c:scaling>
          <c:orientation val="minMax"/>
        </c:scaling>
        <c:delete val="0"/>
        <c:axPos val="b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5A6B8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12"/>
          <c:min val="0"/>
        </c:scaling>
        <c:delete val="0"/>
        <c:axPos val="l"/>
        <c:majorGridlines>
          <c:spPr>
            <a:ln w="6350" cap="flat" cmpd="sng" algn="ctr">
              <a:solidFill>
                <a:srgbClr val="D9D9D9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5A6B84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autoZero"/>
        <c:crossBetween val="between"/>
        <c:majorUnit val="3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050">
          <a:solidFill>
            <a:srgbClr val="5A6B84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charts/chart60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chart>
    <c:autoTitleDeleted val="1"/>
    <c:plotArea>
      <c:layout>
        <c:manualLayout>
          <c:layoutTarget val="inner"/>
          <c:xMode val="edge"/>
          <c:yMode val="edge"/>
          <c:wMode val="factor"/>
          <c:hMode val="factor"/>
          <c:x val="0.162222222222"/>
          <c:y val="0.0434782608696"/>
          <c:w val="0.777777777778"/>
          <c:h val="0.839130434783"/>
        </c:manualLayout>
      </c:layout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成本构成</c:v>
                </c:pt>
              </c:strCache>
            </c:strRef>
          </c:tx>
          <c:spPr>
            <a:solidFill>
              <a:srgbClr val="0B2C5C"/>
            </a:solidFill>
            <a:ln>
              <a:solidFill>
                <a:srgbClr val="0B2C5C"/>
              </a:solidFill>
            </a:ln>
          </c:spPr>
          <c:invertIfNegative val="0"/>
          <c:dPt>
            <c:idx val="0"/>
            <c:invertIfNegative val="0"/>
            <c:spPr>
              <a:solidFill>
                <a:srgbClr val="A6192E"/>
              </a:solidFill>
              <a:ln>
                <a:solidFill>
                  <a:srgbClr val="A6192E"/>
                </a:solidFill>
              </a:ln>
            </c:spPr>
          </c:dPt>
          <c:dPt>
            <c:idx val="1"/>
            <c:invertIfNegative val="0"/>
            <c:spPr>
              <a:solidFill>
                <a:srgbClr val="0B2C5C"/>
              </a:solidFill>
              <a:ln>
                <a:solidFill>
                  <a:srgbClr val="0B2C5C"/>
                </a:solidFill>
              </a:ln>
            </c:spPr>
          </c:dPt>
          <c:dPt>
            <c:idx val="2"/>
            <c:invertIfNegative val="0"/>
            <c:spPr>
              <a:solidFill>
                <a:srgbClr val="1F4E79"/>
              </a:solidFill>
              <a:ln>
                <a:solidFill>
                  <a:srgbClr val="1F4E79"/>
                </a:solidFill>
              </a:ln>
            </c:spPr>
          </c:dPt>
          <c:dPt>
            <c:idx val="3"/>
            <c:invertIfNegative val="0"/>
            <c:spPr>
              <a:solidFill>
                <a:srgbClr val="4A6FA5"/>
              </a:solidFill>
              <a:ln>
                <a:solidFill>
                  <a:srgbClr val="4A6FA5"/>
                </a:solidFill>
              </a:ln>
            </c:spPr>
          </c:dPt>
          <c:dPt>
            <c:idx val="4"/>
            <c:invertIfNegative val="0"/>
            <c:spPr>
              <a:solidFill>
                <a:srgbClr val="76839A"/>
              </a:solidFill>
              <a:ln>
                <a:solidFill>
                  <a:srgbClr val="76839A"/>
                </a:solidFill>
              </a:ln>
            </c:spPr>
          </c:dPt>
          <c:dPt>
            <c:idx val="5"/>
            <c:invertIfNegative val="0"/>
            <c:spPr>
              <a:solidFill>
                <a:srgbClr val="9AA7BC"/>
              </a:solidFill>
              <a:ln>
                <a:solidFill>
                  <a:srgbClr val="9AA7BC"/>
                </a:solidFill>
              </a:ln>
            </c:spPr>
          </c:dPt>
          <c:cat>
            <c:strRef>
              <c:f>Sheet1!$A$2:$A$7</c:f>
              <c:strCache>
                <c:ptCount val="6"/>
                <c:pt idx="0">
                  <c:v>天然橡胶</c:v>
                </c:pt>
                <c:pt idx="1">
                  <c:v>合成橡胶</c:v>
                </c:pt>
                <c:pt idx="2">
                  <c:v>炭黑</c:v>
                </c:pt>
                <c:pt idx="3">
                  <c:v>钢丝帘线</c:v>
                </c:pt>
                <c:pt idx="4">
                  <c:v>其他材料</c:v>
                </c:pt>
                <c:pt idx="5">
                  <c:v>人工与制造费用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28</c:v>
                </c:pt>
                <c:pt idx="1">
                  <c:v>13</c:v>
                </c:pt>
                <c:pt idx="2">
                  <c:v>11</c:v>
                </c:pt>
                <c:pt idx="3">
                  <c:v>9</c:v>
                </c:pt>
                <c:pt idx="4">
                  <c:v>14</c:v>
                </c:pt>
                <c:pt idx="5">
                  <c:v>25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lang="zh-CN" sz="1050">
                  <a:solidFill>
                    <a:srgbClr val="14243D"/>
                  </a:solidFill>
                  <a:latin typeface="Microsoft YaHei"/>
                  <a:ea typeface="Microsoft YaHei"/>
                  <a:cs typeface="Microsoft YaHei"/>
                </a:defRPr>
              </a:pPr>
              <a:endParaRPr lang="zh-CN"/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82"/>
        <c:axId val="2068027336"/>
        <c:axId val="2113994440"/>
      </c:barChart>
      <c:catAx>
        <c:axId val="2068027336"/>
        <c:scaling>
          <c:orientation val="maxMin"/>
        </c:scaling>
        <c:delete val="0"/>
        <c:axPos val="l"/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14243D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113994440"/>
        <c:crosses val="autoZero"/>
        <c:auto val="1"/>
        <c:lblAlgn val="ctr"/>
        <c:lblOffset val="100"/>
        <c:noMultiLvlLbl val="0"/>
      </c:catAx>
      <c:valAx>
        <c:axId val="2113994440"/>
        <c:scaling>
          <c:orientation val="minMax"/>
          <c:max val="30"/>
          <c:min val="0"/>
        </c:scaling>
        <c:delete val="0"/>
        <c:axPos val="b"/>
        <c:majorGridlines>
          <c:spPr>
            <a:ln w="6350" cap="flat" cmpd="sng" algn="ctr">
              <a:solidFill>
                <a:srgbClr val="D9D9D9"/>
              </a:solidFill>
              <a:round/>
            </a:ln>
          </c:spPr>
        </c:majorGridlines>
        <c:majorTickMark val="none"/>
        <c:minorTickMark val="none"/>
        <c:tickLblPos val="nextTo"/>
        <c:spPr>
          <a:ln w="9525" cap="flat" cmpd="sng" algn="ctr">
            <a:solidFill>
              <a:srgbClr val="D9D9D9"/>
            </a:solidFill>
            <a:round/>
          </a:ln>
        </c:spPr>
        <c:txPr>
          <a:bodyPr/>
          <a:lstStyle/>
          <a:p>
            <a:pPr>
              <a:defRPr lang="zh-CN" sz="1050">
                <a:solidFill>
                  <a:srgbClr val="14243D"/>
                </a:solidFill>
                <a:latin typeface="Microsoft YaHei"/>
                <a:ea typeface="Microsoft YaHei"/>
                <a:cs typeface="Microsoft YaHei"/>
              </a:defRPr>
            </a:pPr>
            <a:endParaRPr lang="zh-CN"/>
          </a:p>
        </c:txPr>
        <c:crossAx val="2068027336"/>
        <c:crosses val="max"/>
        <c:crossBetween val="between"/>
        <c:majorUnit val="10"/>
      </c:valAx>
      <c:spPr>
        <a:noFill/>
        <a:ln>
          <a:noFill/>
        </a:ln>
      </c:spPr>
    </c:plotArea>
    <c:plotVisOnly val="1"/>
    <c:dispBlanksAs val="gap"/>
  </c:chart>
  <c:spPr>
    <a:noFill/>
    <a:ln>
      <a:noFill/>
    </a:ln>
  </c:spPr>
  <c:txPr>
    <a:bodyPr/>
    <a:lstStyle/>
    <a:p>
      <a:pPr>
        <a:defRPr lang="zh-CN" sz="1050">
          <a:solidFill>
            <a:srgbClr val="14243D"/>
          </a:solidFill>
          <a:latin typeface="Microsoft YaHei"/>
          <a:ea typeface="Microsoft YaHei"/>
          <a:cs typeface="Microsoft YaHei"/>
        </a:defRPr>
      </a:pPr>
      <a:endParaRPr lang="zh-CN"/>
    </a:p>
  </c:txPr>
  <c:externalData r:id="rId1">
    <c:autoUpdate val="0"/>
  </c:externalData>
</c:chartSpace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7.xml><?xml version="1.0" encoding="utf-8"?>
<p:sldLayout xmlns:a="http://schemas.openxmlformats.org/drawingml/2006/main" xmlns:p="http://schemas.openxmlformats.org/presentationml/2006/main" type="blank" preserve="1">
  <p:cSld name="china-tire-industry-ib — 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 name="china-tire-industry-ib — 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zh-CN" smtClean="0"/>
              <a:t>1/27/13</a:t>
            </a:fld>
            <a:endParaRPr 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lang="zh-CN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zh-CN" smtClean="0"/>
              <a:t>‹#›</a:t>
            </a:fld>
            <a:endParaRPr 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7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 lang="zh-CN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 lang="zh-CN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 lang="zh-CN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2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3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301.xml"/>
</Relationships>
</file>

<file path=ppt/slides/_rels/slide4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5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6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  <Relationship Id="rId2" Type="http://schemas.openxmlformats.org/officeDocument/2006/relationships/chart" Target="../charts/chart601.xml"/>
</Relationships>
</file>

<file path=ppt/slides/_rels/slide7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8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_rels/slide9.xml.rels><?xml version="1.0" encoding="UTF-8" standalone="yes"?>
<Relationships xmlns="http://schemas.openxmlformats.org/package/2006/relationships">
  <Relationship Id="rId1"
                Type="http://schemas.openxmlformats.org/officeDocument/2006/relationships/slideLayout"
                Target="../slideLayouts/slideLayout7.xml"/>
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cover-main"/>
          <p:cNvGrpSpPr/>
          <p:nvPr/>
        </p:nvGrpSpPr>
        <p:grpSpPr>
          <a:xfrm>
            <a:off x="895350" y="1866900"/>
            <a:ext cx="4399788" cy="2003044"/>
            <a:chOff x="895350" y="1866900"/>
            <a:chExt cx="4399788" cy="2003044"/>
          </a:xfrm>
        </p:grpSpPr>
        <p:sp>
          <p:nvSpPr>
            <p:cNvPr id="2" name="Rectangle 2"/>
            <p:cNvSpPr/>
            <p:nvPr/>
          </p:nvSpPr>
          <p:spPr>
            <a:xfrm>
              <a:off x="914400" y="1866900"/>
              <a:ext cx="609600" cy="57150"/>
            </a:xfrm>
            <a:prstGeom prst="rect">
              <a:avLst/>
            </a:prstGeom>
            <a:solidFill>
              <a:srgbClr val="B9975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908304" y="2247900"/>
              <a:ext cx="260299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C9D4E8"/>
                  </a:solidFill>
                  <a:latin typeface="+mn-lt"/>
                  <a:ea typeface="+mn-ea"/>
                  <a:cs typeface="+mn-cs"/>
                </a:rPr>
                <a:t>行业研究简报 · INDUSTRY BRIEFING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895350" y="2724150"/>
              <a:ext cx="4399788" cy="79057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405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中国轮胎行业概览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5256" y="3517900"/>
              <a:ext cx="4295165" cy="352044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800" dirty="0">
                  <a:solidFill>
                    <a:srgbClr val="C9D4E8"/>
                  </a:solidFill>
                  <a:latin typeface="+mn-lt"/>
                  <a:ea typeface="+mn-ea"/>
                  <a:cs typeface="+mn-cs"/>
                </a:rPr>
                <a:t>规模、格局、成本与出口 — 2026 年展望</a:t>
              </a:r>
            </a:p>
          </p:txBody>
        </p:sp>
      </p:grpSp>
      <p:grpSp>
        <p:nvGrpSpPr>
          <p:cNvPr id="9" name="cover-meta"/>
          <p:cNvGrpSpPr/>
          <p:nvPr/>
        </p:nvGrpSpPr>
        <p:grpSpPr>
          <a:xfrm>
            <a:off x="908304" y="5410200"/>
            <a:ext cx="4136091" cy="534543"/>
            <a:chOff x="908304" y="5410200"/>
            <a:chExt cx="4136091" cy="534543"/>
          </a:xfrm>
        </p:grpSpPr>
        <p:sp>
          <p:nvSpPr>
            <p:cNvPr id="7" name="TextBox 7"/>
            <p:cNvSpPr txBox="1"/>
            <p:nvPr/>
          </p:nvSpPr>
          <p:spPr>
            <a:xfrm>
              <a:off x="908304" y="5410200"/>
              <a:ext cx="265343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8FA3C4"/>
                  </a:solidFill>
                  <a:latin typeface="+mn-lt"/>
                  <a:ea typeface="+mn-ea"/>
                  <a:cs typeface="+mn-cs"/>
                </a:rPr>
                <a:t>2026 年 10 月 · 数据口径见尾页附注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909447" y="5753100"/>
              <a:ext cx="41349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FA3C4"/>
                  </a:solidFill>
                  <a:latin typeface="+mn-lt"/>
                  <a:ea typeface="+mn-ea"/>
                  <a:cs typeface="+mn-cs"/>
                </a:rPr>
                <a:t>Confidential — For discussion purposes only · 机密 — 仅供讨论使用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执行摘要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增长由出口与替换市场驱动，份额加速向头部集中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pSp>
        <p:nvGrpSpPr>
          <p:cNvPr id="22" name="exec-points"/>
          <p:cNvGrpSpPr/>
          <p:nvPr/>
        </p:nvGrpSpPr>
        <p:grpSpPr>
          <a:xfrm>
            <a:off x="666750" y="1543050"/>
            <a:ext cx="6300216" cy="3720846"/>
            <a:chOff x="666750" y="1543050"/>
            <a:chExt cx="6300216" cy="3720846"/>
          </a:xfrm>
        </p:grpSpPr>
        <p:sp>
          <p:nvSpPr>
            <p:cNvPr id="6" name="Ellipse 6"/>
            <p:cNvSpPr/>
            <p:nvPr/>
          </p:nvSpPr>
          <p:spPr>
            <a:xfrm>
              <a:off x="666750" y="1543050"/>
              <a:ext cx="266700" cy="266700"/>
            </a:xfrm>
            <a:prstGeom prst="ellipse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747358" y="15811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1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1097661" y="1574800"/>
              <a:ext cx="4178907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规模：产量站上 11 亿条量级，增速回归中个位数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1098804" y="1885950"/>
              <a:ext cx="566989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2025E 全行业产量约 11.2 亿条（示例口径），替换与出口贡献八成以上增量。</a:t>
              </a:r>
            </a:p>
          </p:txBody>
        </p:sp>
        <p:sp>
          <p:nvSpPr>
            <p:cNvPr id="10" name="Ellipse 10"/>
            <p:cNvSpPr/>
            <p:nvPr/>
          </p:nvSpPr>
          <p:spPr>
            <a:xfrm>
              <a:off x="666750" y="2590800"/>
              <a:ext cx="266700" cy="266700"/>
            </a:xfrm>
            <a:prstGeom prst="ellipse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11" name="TextBox 11"/>
            <p:cNvSpPr txBox="1"/>
            <p:nvPr/>
          </p:nvSpPr>
          <p:spPr>
            <a:xfrm>
              <a:off x="747358" y="26289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1097661" y="2622550"/>
              <a:ext cx="364652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格局：份额向头部集中，中小产能持续出清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1098804" y="293370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前五家上市公司收入份额升至约四成，低端半钢产能利用率不足六成。</a:t>
              </a:r>
            </a:p>
          </p:txBody>
        </p:sp>
        <p:sp>
          <p:nvSpPr>
            <p:cNvPr id="14" name="Ellipse 14"/>
            <p:cNvSpPr/>
            <p:nvPr/>
          </p:nvSpPr>
          <p:spPr>
            <a:xfrm>
              <a:off x="666750" y="3638550"/>
              <a:ext cx="266700" cy="266700"/>
            </a:xfrm>
            <a:prstGeom prst="ellipse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15" name="TextBox 15"/>
            <p:cNvSpPr txBox="1"/>
            <p:nvPr/>
          </p:nvSpPr>
          <p:spPr>
            <a:xfrm>
              <a:off x="747358" y="367665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1097661" y="3670300"/>
              <a:ext cx="3837686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盈利：原材料下行修复毛利率，分化大于总量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1098804" y="3981450"/>
              <a:ext cx="586816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天然橡胶价格回落带动头部毛利率修复 2–3 个百分点，尾部企业仍在盈亏线附近。</a:t>
              </a:r>
            </a:p>
          </p:txBody>
        </p:sp>
        <p:sp>
          <p:nvSpPr>
            <p:cNvPr id="18" name="Ellipse 18"/>
            <p:cNvSpPr/>
            <p:nvPr/>
          </p:nvSpPr>
          <p:spPr>
            <a:xfrm>
              <a:off x="666750" y="4686300"/>
              <a:ext cx="266700" cy="266700"/>
            </a:xfrm>
            <a:prstGeom prst="ellipse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747358" y="4724400"/>
              <a:ext cx="105484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2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1097661" y="4718050"/>
              <a:ext cx="3264205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出口：海外基地已从可选项变为必答题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098804" y="5029200"/>
              <a:ext cx="50200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欧美贸易壁垒常态化，东南亚与墨西哥产能布局决定中长期成本曲线。</a:t>
              </a:r>
            </a:p>
          </p:txBody>
        </p:sp>
      </p:grpSp>
      <p:grpSp>
        <p:nvGrpSpPr>
          <p:cNvPr id="32" name="exec-kpis"/>
          <p:cNvGrpSpPr/>
          <p:nvPr/>
        </p:nvGrpSpPr>
        <p:grpSpPr>
          <a:xfrm>
            <a:off x="8153400" y="1371600"/>
            <a:ext cx="3429000" cy="4724400"/>
            <a:chOff x="8153400" y="1371600"/>
            <a:chExt cx="3429000" cy="4724400"/>
          </a:xfrm>
        </p:grpSpPr>
        <p:sp>
          <p:nvSpPr>
            <p:cNvPr id="23" name="Rectangle 23"/>
            <p:cNvSpPr/>
            <p:nvPr/>
          </p:nvSpPr>
          <p:spPr>
            <a:xfrm>
              <a:off x="8153400" y="1371600"/>
              <a:ext cx="3429000" cy="4724400"/>
            </a:xfrm>
            <a:prstGeom prst="rect">
              <a:avLst/>
            </a:prstGeom>
            <a:solidFill>
              <a:srgbClr val="F2F4F8"/>
            </a:solidFill>
            <a:ln>
              <a:noFill/>
            </a:ln>
          </p:spPr>
        </p:sp>
        <p:sp>
          <p:nvSpPr>
            <p:cNvPr id="24" name="TextBox 24"/>
            <p:cNvSpPr txBox="1"/>
            <p:nvPr/>
          </p:nvSpPr>
          <p:spPr>
            <a:xfrm>
              <a:off x="8408670" y="1587500"/>
              <a:ext cx="1423749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11.2 亿条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8414766" y="2006600"/>
              <a:ext cx="202105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2025E 全行业产量（示例口径）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8408670" y="2482850"/>
              <a:ext cx="10095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约 40%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414766" y="2901950"/>
              <a:ext cx="1565529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前五家上市公司收入份额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408670" y="3378200"/>
              <a:ext cx="1598671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6,500 万条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414766" y="3797300"/>
              <a:ext cx="1848231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头部厂商海外基地合计年产能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8408670" y="4273550"/>
              <a:ext cx="1009540" cy="44005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2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约 75%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8414766" y="4692650"/>
              <a:ext cx="1424178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原材料占制造成本比重</a:t>
              </a:r>
            </a:p>
          </p:txBody>
        </p:sp>
      </p:grpSp>
      <p:grpSp>
        <p:nvGrpSpPr>
          <p:cNvPr id="35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33" name="TextBox 33"/>
            <p:cNvSpPr txBox="1"/>
            <p:nvPr/>
          </p:nvSpPr>
          <p:spPr>
            <a:xfrm>
              <a:off x="604838" y="6356350"/>
              <a:ext cx="40173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示例数据（演示口径） · Confidential — For discussion purposes only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2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行业规模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6433017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产量六年复合增速约 6%，增量主要来自出口与替换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pSp>
        <p:nvGrpSpPr>
          <p:cNvPr id="8" name="tire-output"/>
          <p:cNvGrpSpPr/>
          <p:nvPr/>
        </p:nvGrpSpPr>
        <p:grpSpPr>
          <a:xfrm>
            <a:off x="609600" y="1428750"/>
            <a:ext cx="8782050" cy="4381500"/>
            <a:chOff x="609600" y="1428750"/>
            <a:chExt cx="8782050" cy="4381500"/>
          </a:xfrm>
        </p:grpSpPr>
        <p:graphicFrame>
          <p:nvGraphicFramePr>
            <p:cNvPr id="6" name="tire-output"/>
            <p:cNvGraphicFramePr>
              <a:graphicFrameLocks noGrp="1"/>
            </p:cNvGraphicFramePr>
            <p:nvPr/>
          </p:nvGraphicFramePr>
          <p:xfrm>
            <a:off x="609600" y="1428750"/>
            <a:ext cx="7772400" cy="4381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7" name="Chart Note 7"/>
            <p:cNvSpPr txBox="1"/>
            <p:nvPr/>
          </p:nvSpPr>
          <p:spPr>
            <a:xfrm>
              <a:off x="1619250" y="5401628"/>
              <a:ext cx="77724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l"/>
              <a:r>
                <a:rPr lang="zh-CN" sz="1050">
                  <a:solidFill>
                    <a:srgbClr val="5A6B84"/>
                  </a:solidFill>
                  <a:latin typeface="Microsoft YaHei"/>
                  <a:ea typeface="Microsoft YaHei"/>
                  <a:cs typeface="Microsoft YaHei"/>
                </a:rPr>
                <a:t>单位：亿条；2025E 为预测值（浅蓝）</a:t>
              </a:r>
            </a:p>
          </p:txBody>
        </p:sp>
      </p:grpSp>
      <p:grpSp>
        <p:nvGrpSpPr>
          <p:cNvPr id="19" name="drivers"/>
          <p:cNvGrpSpPr/>
          <p:nvPr/>
        </p:nvGrpSpPr>
        <p:grpSpPr>
          <a:xfrm>
            <a:off x="8603361" y="1593850"/>
            <a:ext cx="1894505" cy="3096578"/>
            <a:chOff x="8603361" y="1593850"/>
            <a:chExt cx="1894505" cy="3096578"/>
          </a:xfrm>
        </p:grpSpPr>
        <p:sp>
          <p:nvSpPr>
            <p:cNvPr id="9" name="TextBox 9"/>
            <p:cNvSpPr txBox="1"/>
            <p:nvPr/>
          </p:nvSpPr>
          <p:spPr>
            <a:xfrm>
              <a:off x="8603361" y="1593850"/>
              <a:ext cx="779120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三大驱动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8604504" y="2000250"/>
              <a:ext cx="98145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替换市场托底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8604885" y="22606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保有量决定替换需求，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8604885" y="248920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周期性弱于配套市场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8604504" y="2990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出口高增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8604885" y="3251200"/>
              <a:ext cx="1820723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性价比打开欧美替换市场，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8604885" y="3479800"/>
              <a:ext cx="1217625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海外基地就近供给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8604504" y="3981450"/>
              <a:ext cx="81991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新能源配套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8604885" y="4241800"/>
              <a:ext cx="1892981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EV 专用胎单价高出约三成，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8604885" y="447040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静音与低滚阻成新卖点</a:t>
              </a:r>
            </a:p>
          </p:txBody>
        </p:sp>
      </p:grpSp>
      <p:grpSp>
        <p:nvGrpSpPr>
          <p:cNvPr id="22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20" name="TextBox 20"/>
            <p:cNvSpPr txBox="1"/>
            <p:nvPr/>
          </p:nvSpPr>
          <p:spPr>
            <a:xfrm>
              <a:off x="604838" y="6356350"/>
              <a:ext cx="40173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示例数据（演示口径） · Confidential — For discussion purposes only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3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竞争格局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6240780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头部企业以海外产能对冲贸易壁垒，份额持续提升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aphicFrame>
        <p:nvGraphicFramePr>
          <p:cNvPr id="6" name="players-table"/>
          <p:cNvGraphicFramePr>
            <a:graphicFrameLocks noGrp="1"/>
          </p:cNvGraphicFramePr>
          <p:nvPr/>
        </p:nvGraphicFramePr>
        <p:xfrm>
          <a:off x="609600" y="1619250"/>
          <a:ext cx="10972800" cy="3352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85950"/>
                <a:gridCol w="1885950"/>
                <a:gridCol w="1543051"/>
                <a:gridCol w="1885950"/>
                <a:gridCol w="3771899"/>
              </a:tblGrid>
              <a:tr h="4191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公司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2024 营收（亿元）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毛利率（%）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海外收入占比（%）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FFFFFF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主要海外基地</a:t>
                      </a:r>
                    </a:p>
                  </a:txBody>
                  <a:tcPr anchor="ctr">
                    <a:solidFill>
                      <a:srgbClr val="0B2C5C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中策橡胶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392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23.8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46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泰国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赛轮轮胎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318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27.1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76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越南、柬埔寨、墨西哥</a:t>
                      </a:r>
                    </a:p>
                  </a:txBody>
                  <a:tcPr anchor="ctr"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玲珑轮胎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220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21.5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54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泰国、塞尔维亚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三角轮胎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105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20.4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美国（规划）</a:t>
                      </a:r>
                    </a:p>
                  </a:txBody>
                  <a:tcPr anchor="ctr">
                    <a:noFill/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森麒麟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98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29.6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91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0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泰国、西班牙（在建）</a:t>
                      </a:r>
                    </a:p>
                  </a:txBody>
                  <a:tcPr anchor="ctr">
                    <a:solidFill>
                      <a:srgbClr val="F2F4F8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五家合计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1,133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zh-CN" sz="1200" b="1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/>
                      <a:r>
                        <a:rPr lang="zh-CN" sz="1200" b="1">
                          <a:solidFill>
                            <a:srgbClr val="14243D"/>
                          </a:solidFill>
                          <a:latin typeface="Microsoft YaHei"/>
                          <a:ea typeface="Microsoft YaHei"/>
                          <a:cs typeface="Microsoft YaHei"/>
                        </a:rPr>
                        <a:t>—</a:t>
                      </a:r>
                    </a:p>
                  </a:txBody>
                  <a:tcPr anchor="ctr">
                    <a:noFill/>
                  </a:tcPr>
                </a:tc>
              </a:tr>
            </a:tbl>
          </a:graphicData>
        </a:graphic>
      </p:graphicFrame>
      <p:grpSp>
        <p:nvGrpSpPr>
          <p:cNvPr id="8" name="table-takeaway"/>
          <p:cNvGrpSpPr/>
          <p:nvPr/>
        </p:nvGrpSpPr>
        <p:grpSpPr>
          <a:xfrm>
            <a:off x="603504" y="5391150"/>
            <a:ext cx="5666232" cy="234696"/>
            <a:chOff x="603504" y="5391150"/>
            <a:chExt cx="5666232" cy="234696"/>
          </a:xfrm>
        </p:grpSpPr>
        <p:sp>
          <p:nvSpPr>
            <p:cNvPr id="7" name="TextBox 7"/>
            <p:cNvSpPr txBox="1"/>
            <p:nvPr/>
          </p:nvSpPr>
          <p:spPr>
            <a:xfrm>
              <a:off x="603504" y="5391150"/>
              <a:ext cx="566623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启示：</a:t>
              </a:r>
              <a:r>
                <a:rPr lang="zh-CN" sz="1200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海外收入占比与毛利率呈正相关，海外产能已成为估值分层的核心变量。</a:t>
              </a:r>
            </a:p>
          </p:txBody>
        </p:sp>
      </p:grpSp>
      <p:grpSp>
        <p:nvGrpSpPr>
          <p:cNvPr id="11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9" name="TextBox 9"/>
            <p:cNvSpPr txBox="1"/>
            <p:nvPr/>
          </p:nvSpPr>
          <p:spPr>
            <a:xfrm>
              <a:off x="604838" y="6356350"/>
              <a:ext cx="40173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示例数据（演示口径） · Confidential — For discussion purposes only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4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1141476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价值链（示意图）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595807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价值链：利润向品牌渠道与低成本海外制造集中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pSp>
        <p:nvGrpSpPr>
          <p:cNvPr id="35" name="value-chain"/>
          <p:cNvGrpSpPr/>
          <p:nvPr/>
        </p:nvGrpSpPr>
        <p:grpSpPr>
          <a:xfrm>
            <a:off x="604266" y="1987550"/>
            <a:ext cx="10520934" cy="2852293"/>
            <a:chOff x="604266" y="1987550"/>
            <a:chExt cx="10520934" cy="2852293"/>
          </a:xfrm>
        </p:grpSpPr>
        <p:sp>
          <p:nvSpPr>
            <p:cNvPr id="6" name="TextBox 6"/>
            <p:cNvSpPr txBox="1"/>
            <p:nvPr/>
          </p:nvSpPr>
          <p:spPr>
            <a:xfrm>
              <a:off x="604266" y="198755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上游原材料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3309366" y="19875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轮胎制造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14466" y="19875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分销渠道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8719566" y="198755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终端市场</a:t>
              </a:r>
            </a:p>
          </p:txBody>
        </p:sp>
        <p:sp>
          <p:nvSpPr>
            <p:cNvPr id="10" name="Rectangle 10"/>
            <p:cNvSpPr/>
            <p:nvPr/>
          </p:nvSpPr>
          <p:spPr>
            <a:xfrm>
              <a:off x="609600" y="2343150"/>
              <a:ext cx="24003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2DE"/>
              </a:solidFill>
            </a:ln>
          </p:spPr>
        </p:sp>
        <p:sp>
          <p:nvSpPr>
            <p:cNvPr id="11" name="Rectangle 11"/>
            <p:cNvSpPr/>
            <p:nvPr/>
          </p:nvSpPr>
          <p:spPr>
            <a:xfrm>
              <a:off x="3314700" y="2343150"/>
              <a:ext cx="2400300" cy="1619250"/>
            </a:xfrm>
            <a:prstGeom prst="rect">
              <a:avLst/>
            </a:prstGeom>
            <a:solidFill>
              <a:srgbClr val="FFFFFF"/>
            </a:solidFill>
            <a:ln w="14288">
              <a:solidFill>
                <a:srgbClr val="A6192E"/>
              </a:solidFill>
            </a:ln>
          </p:spPr>
        </p:sp>
        <p:sp>
          <p:nvSpPr>
            <p:cNvPr id="12" name="Rectangle 12"/>
            <p:cNvSpPr/>
            <p:nvPr/>
          </p:nvSpPr>
          <p:spPr>
            <a:xfrm>
              <a:off x="6019800" y="2343150"/>
              <a:ext cx="24003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2DE"/>
              </a:solidFill>
            </a:ln>
          </p:spPr>
        </p:sp>
        <p:sp>
          <p:nvSpPr>
            <p:cNvPr id="13" name="Rectangle 13"/>
            <p:cNvSpPr/>
            <p:nvPr/>
          </p:nvSpPr>
          <p:spPr>
            <a:xfrm>
              <a:off x="8724900" y="2343150"/>
              <a:ext cx="2400300" cy="1619250"/>
            </a:xfrm>
            <a:prstGeom prst="rect">
              <a:avLst/>
            </a:prstGeom>
            <a:solidFill>
              <a:srgbClr val="FFFFFF"/>
            </a:solidFill>
            <a:ln w="9525">
              <a:solidFill>
                <a:srgbClr val="C9D2DE"/>
              </a:solidFill>
            </a:ln>
          </p:spPr>
        </p:sp>
        <p:sp>
          <p:nvSpPr>
            <p:cNvPr id="14" name="Line 14"/>
            <p:cNvSpPr/>
            <p:nvPr/>
          </p:nvSpPr>
          <p:spPr>
            <a:xfrm>
              <a:off x="3028950" y="3152775"/>
              <a:ext cx="247650" cy="1"/>
            </a:xfrm>
            <a:prstGeom prst="line">
              <a:avLst/>
            </a:prstGeom>
            <a:noFill/>
            <a:ln w="14288">
              <a:solidFill>
                <a:srgbClr val="1F4E79"/>
              </a:solidFill>
              <a:tailEnd type="triangle" w="lg" len="lg"/>
            </a:ln>
          </p:spPr>
        </p:sp>
        <p:sp>
          <p:nvSpPr>
            <p:cNvPr id="15" name="Line 15"/>
            <p:cNvSpPr/>
            <p:nvPr/>
          </p:nvSpPr>
          <p:spPr>
            <a:xfrm>
              <a:off x="5734050" y="3152775"/>
              <a:ext cx="247650" cy="1"/>
            </a:xfrm>
            <a:prstGeom prst="line">
              <a:avLst/>
            </a:prstGeom>
            <a:noFill/>
            <a:ln w="14288">
              <a:solidFill>
                <a:srgbClr val="1F4E79"/>
              </a:solidFill>
              <a:tailEnd type="triangle" w="lg" len="lg"/>
            </a:ln>
          </p:spPr>
        </p:sp>
        <p:sp>
          <p:nvSpPr>
            <p:cNvPr id="16" name="Line 16"/>
            <p:cNvSpPr/>
            <p:nvPr/>
          </p:nvSpPr>
          <p:spPr>
            <a:xfrm>
              <a:off x="8439150" y="3152775"/>
              <a:ext cx="247650" cy="1"/>
            </a:xfrm>
            <a:prstGeom prst="line">
              <a:avLst/>
            </a:prstGeom>
            <a:noFill/>
            <a:ln w="14288">
              <a:solidFill>
                <a:srgbClr val="1F4E79"/>
              </a:solidFill>
              <a:tailEnd type="triangle" w="lg" len="lg"/>
            </a:ln>
          </p:spPr>
        </p:sp>
        <p:sp>
          <p:nvSpPr>
            <p:cNvPr id="17" name="TextBox 17"/>
            <p:cNvSpPr txBox="1"/>
            <p:nvPr/>
          </p:nvSpPr>
          <p:spPr>
            <a:xfrm>
              <a:off x="793623" y="26289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原材料供应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795147" y="295275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天然胶、合成胶、炭黑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795147" y="3181350"/>
              <a:ext cx="1480899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钢丝帘线，成本约占 75%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3498723" y="26289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轮胎制造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5048821" y="2457450"/>
              <a:ext cx="251841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900" b="1" dirty="0">
                  <a:solidFill>
                    <a:srgbClr val="A6192E"/>
                  </a:solidFill>
                  <a:latin typeface="+mn-lt"/>
                  <a:ea typeface="+mn-ea"/>
                  <a:cs typeface="+mn-cs"/>
                </a:rPr>
                <a:t>焦点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3500247" y="29527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炼胶、压延、成型、硫化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3500247" y="3181350"/>
              <a:ext cx="1461110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产能与工艺决定成本曲线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203823" y="26289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分销渠道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6205347" y="29527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配套直供、经销批发</a:t>
              </a:r>
            </a:p>
          </p:txBody>
        </p:sp>
        <p:sp>
          <p:nvSpPr>
            <p:cNvPr id="26" name="TextBox 26"/>
            <p:cNvSpPr txBox="1"/>
            <p:nvPr/>
          </p:nvSpPr>
          <p:spPr>
            <a:xfrm>
              <a:off x="6205347" y="31813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电商与连锁零售并行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8908923" y="26289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终端需求</a:t>
              </a:r>
            </a:p>
          </p:txBody>
        </p:sp>
        <p:sp>
          <p:nvSpPr>
            <p:cNvPr id="28" name="TextBox 28"/>
            <p:cNvSpPr txBox="1"/>
            <p:nvPr/>
          </p:nvSpPr>
          <p:spPr>
            <a:xfrm>
              <a:off x="8910447" y="2952750"/>
              <a:ext cx="10653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替换市场约占七成</a:t>
              </a:r>
            </a:p>
          </p:txBody>
        </p:sp>
        <p:sp>
          <p:nvSpPr>
            <p:cNvPr id="29" name="TextBox 29"/>
            <p:cNvSpPr txBox="1"/>
            <p:nvPr/>
          </p:nvSpPr>
          <p:spPr>
            <a:xfrm>
              <a:off x="8910447" y="318135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配套随整车产销波动</a:t>
              </a:r>
            </a:p>
          </p:txBody>
        </p:sp>
        <p:sp>
          <p:nvSpPr>
            <p:cNvPr id="30" name="TextBox 30"/>
            <p:cNvSpPr txBox="1"/>
            <p:nvPr/>
          </p:nvSpPr>
          <p:spPr>
            <a:xfrm>
              <a:off x="1013231" y="4191000"/>
              <a:ext cx="159303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议价能力：弱（随行就市）</a:t>
              </a:r>
            </a:p>
          </p:txBody>
        </p:sp>
        <p:sp>
          <p:nvSpPr>
            <p:cNvPr id="31" name="TextBox 31"/>
            <p:cNvSpPr txBox="1"/>
            <p:nvPr/>
          </p:nvSpPr>
          <p:spPr>
            <a:xfrm>
              <a:off x="3850259" y="4191000"/>
              <a:ext cx="132918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分化：头部强、尾部弱</a:t>
              </a:r>
            </a:p>
          </p:txBody>
        </p:sp>
        <p:sp>
          <p:nvSpPr>
            <p:cNvPr id="32" name="TextBox 32"/>
            <p:cNvSpPr txBox="1"/>
            <p:nvPr/>
          </p:nvSpPr>
          <p:spPr>
            <a:xfrm>
              <a:off x="6621323" y="41910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较强：品牌渠道溢价</a:t>
              </a:r>
            </a:p>
          </p:txBody>
        </p:sp>
        <p:sp>
          <p:nvSpPr>
            <p:cNvPr id="33" name="TextBox 33"/>
            <p:cNvSpPr txBox="1"/>
            <p:nvPr/>
          </p:nvSpPr>
          <p:spPr>
            <a:xfrm>
              <a:off x="9326423" y="4191000"/>
              <a:ext cx="119725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分散：终端价格敏感</a:t>
              </a:r>
            </a:p>
          </p:txBody>
        </p:sp>
        <p:sp>
          <p:nvSpPr>
            <p:cNvPr id="34" name="TextBox 34"/>
            <p:cNvSpPr txBox="1"/>
            <p:nvPr/>
          </p:nvSpPr>
          <p:spPr>
            <a:xfrm>
              <a:off x="604647" y="4648200"/>
              <a:ext cx="6738214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连线为实物与货物流向（实线箭头）；本图按 diagram-design 规范绘制：平面无阴影、单一焦点、语义令牌配色。</a:t>
              </a:r>
            </a:p>
          </p:txBody>
        </p:sp>
      </p:grpSp>
      <p:grpSp>
        <p:nvGrpSpPr>
          <p:cNvPr id="37" name="diagram-caption"/>
          <p:cNvGrpSpPr/>
          <p:nvPr/>
        </p:nvGrpSpPr>
        <p:grpSpPr>
          <a:xfrm>
            <a:off x="604647" y="5467350"/>
            <a:ext cx="4891227" cy="191643"/>
            <a:chOff x="604647" y="5467350"/>
            <a:chExt cx="4891227" cy="191643"/>
          </a:xfrm>
        </p:grpSpPr>
        <p:sp>
          <p:nvSpPr>
            <p:cNvPr id="36" name="TextBox 36"/>
            <p:cNvSpPr txBox="1"/>
            <p:nvPr/>
          </p:nvSpPr>
          <p:spPr>
            <a:xfrm>
              <a:off x="604647" y="5467350"/>
              <a:ext cx="4891227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图注：价值沉淀集中于具备品牌与渠道的一端，以及拥有低成本海外产能的制造商。</a:t>
              </a:r>
            </a:p>
          </p:txBody>
        </p:sp>
      </p:grpSp>
      <p:grpSp>
        <p:nvGrpSpPr>
          <p:cNvPr id="40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38" name="TextBox 38"/>
            <p:cNvSpPr txBox="1"/>
            <p:nvPr/>
          </p:nvSpPr>
          <p:spPr>
            <a:xfrm>
              <a:off x="604838" y="6356350"/>
              <a:ext cx="4458908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行业公开资料整理（框架示意） · Confidential — For discussion purposes only</a:t>
              </a:r>
            </a:p>
          </p:txBody>
        </p:sp>
        <p:sp>
          <p:nvSpPr>
            <p:cNvPr id="39" name="TextBox 39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5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576072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成本结构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5182768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原材料占成本约 75%，天然橡胶单项居首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pSp>
        <p:nvGrpSpPr>
          <p:cNvPr id="8" name="cost-structure"/>
          <p:cNvGrpSpPr/>
          <p:nvPr/>
        </p:nvGrpSpPr>
        <p:grpSpPr>
          <a:xfrm>
            <a:off x="95250" y="1428750"/>
            <a:ext cx="9086850" cy="4381500"/>
            <a:chOff x="95250" y="1428750"/>
            <a:chExt cx="9086850" cy="4381500"/>
          </a:xfrm>
        </p:grpSpPr>
        <p:graphicFrame>
          <p:nvGraphicFramePr>
            <p:cNvPr id="6" name="cost-structure"/>
            <p:cNvGraphicFramePr>
              <a:graphicFrameLocks noGrp="1"/>
            </p:cNvGraphicFramePr>
            <p:nvPr/>
          </p:nvGraphicFramePr>
          <p:xfrm>
            <a:off x="609600" y="1428750"/>
            <a:ext cx="8572500" cy="4381500"/>
          </p:xfrm>
          <a:graphic>
            <a:graphicData uri="http://schemas.openxmlformats.org/drawingml/2006/chart">
              <c:chart xmlns:c="http://schemas.openxmlformats.org/drawingml/2006/chart" r:id="rId2"/>
            </a:graphicData>
          </a:graphic>
        </p:graphicFrame>
        <p:sp>
          <p:nvSpPr>
            <p:cNvPr id="7" name="Chart Note 7"/>
            <p:cNvSpPr txBox="1"/>
            <p:nvPr/>
          </p:nvSpPr>
          <p:spPr>
            <a:xfrm>
              <a:off x="95250" y="5592128"/>
              <a:ext cx="8572500" cy="213360"/>
            </a:xfrm>
            <a:prstGeom prst="rect">
              <a:avLst/>
            </a:prstGeom>
            <a:noFill/>
            <a:ln>
              <a:noFill/>
            </a:ln>
          </p:spPr>
          <p:txBody>
            <a:bodyPr wrap="square" lIns="0" tIns="0" rIns="0" bIns="0" anchor="b" anchorCtr="0"/>
            <a:lstStyle/>
            <a:p>
              <a:pPr algn="r"/>
              <a:r>
                <a:rPr lang="zh-CN" sz="1050">
                  <a:solidFill>
                    <a:srgbClr val="14243D"/>
                  </a:solidFill>
                  <a:latin typeface="Microsoft YaHei"/>
                  <a:ea typeface="Microsoft YaHei"/>
                  <a:cs typeface="Microsoft YaHei"/>
                </a:rPr>
                <a:t>单位：占营业成本 %</a:t>
              </a:r>
            </a:p>
          </p:txBody>
        </p:sp>
      </p:grpSp>
      <p:grpSp>
        <p:nvGrpSpPr>
          <p:cNvPr id="17" name="cost-note"/>
          <p:cNvGrpSpPr/>
          <p:nvPr/>
        </p:nvGrpSpPr>
        <p:grpSpPr>
          <a:xfrm>
            <a:off x="9403461" y="1593850"/>
            <a:ext cx="1520698" cy="3802062"/>
            <a:chOff x="9403461" y="1593850"/>
            <a:chExt cx="1520698" cy="3802062"/>
          </a:xfrm>
        </p:grpSpPr>
        <p:sp>
          <p:nvSpPr>
            <p:cNvPr id="9" name="TextBox 9"/>
            <p:cNvSpPr txBox="1"/>
            <p:nvPr/>
          </p:nvSpPr>
          <p:spPr>
            <a:xfrm>
              <a:off x="9403461" y="1593850"/>
              <a:ext cx="396799" cy="27870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42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含义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404985" y="19748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天然橡胶价格每波动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9404985" y="2203450"/>
              <a:ext cx="1496558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10%，头部企业毛利率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9404985" y="2432050"/>
              <a:ext cx="1270396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约波动 1.5–2 个点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9404604" y="2990850"/>
              <a:ext cx="65836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对冲手段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9404985" y="3270250"/>
              <a:ext cx="151917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长协锁价、期货套保、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9404985" y="3498850"/>
              <a:ext cx="1368400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配方替代与区域采购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9405938" y="5219700"/>
              <a:ext cx="1106005" cy="176212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单位：占营业成本 %</a:t>
              </a:r>
            </a:p>
          </p:txBody>
        </p:sp>
      </p:grpSp>
      <p:grpSp>
        <p:nvGrpSpPr>
          <p:cNvPr id="20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18" name="TextBox 18"/>
            <p:cNvSpPr txBox="1"/>
            <p:nvPr/>
          </p:nvSpPr>
          <p:spPr>
            <a:xfrm>
              <a:off x="604838" y="6356350"/>
              <a:ext cx="40173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示例数据（演示口径） · Confidential — For discussion purposes only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6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1000125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出口与贸易摩擦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5109972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贸易壁垒常态化，产能出海成为对冲主线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pSp>
        <p:nvGrpSpPr>
          <p:cNvPr id="11" name="band-us"/>
          <p:cNvGrpSpPr/>
          <p:nvPr/>
        </p:nvGrpSpPr>
        <p:grpSpPr>
          <a:xfrm>
            <a:off x="609600" y="1485900"/>
            <a:ext cx="7915656" cy="1143000"/>
            <a:chOff x="609600" y="1485900"/>
            <a:chExt cx="7915656" cy="1143000"/>
          </a:xfrm>
        </p:grpSpPr>
        <p:sp>
          <p:nvSpPr>
            <p:cNvPr id="6" name="Rectangle 6"/>
            <p:cNvSpPr/>
            <p:nvPr/>
          </p:nvSpPr>
          <p:spPr>
            <a:xfrm>
              <a:off x="609600" y="1485900"/>
              <a:ext cx="1143000" cy="1143000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7" name="TextBox 7"/>
            <p:cNvSpPr txBox="1"/>
            <p:nvPr/>
          </p:nvSpPr>
          <p:spPr>
            <a:xfrm>
              <a:off x="971550" y="19748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美国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2050542" y="1739900"/>
              <a:ext cx="1831086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直接出口通道基本关闭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2051304" y="2057400"/>
              <a:ext cx="6473952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对华乘用车胎双反税率与加征关税叠加，企业普遍改由东南亚、墨西哥基地供货美国市场，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2051304" y="2305050"/>
              <a:ext cx="3081528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原产地核查趋严使「绕道出口」空间收窄。</a:t>
              </a:r>
            </a:p>
          </p:txBody>
        </p:sp>
      </p:grpSp>
      <p:grpSp>
        <p:nvGrpSpPr>
          <p:cNvPr id="17" name="band-eu"/>
          <p:cNvGrpSpPr/>
          <p:nvPr/>
        </p:nvGrpSpPr>
        <p:grpSpPr>
          <a:xfrm>
            <a:off x="609600" y="2857500"/>
            <a:ext cx="7269480" cy="1143000"/>
            <a:chOff x="609600" y="2857500"/>
            <a:chExt cx="7269480" cy="1143000"/>
          </a:xfrm>
        </p:grpSpPr>
        <p:sp>
          <p:nvSpPr>
            <p:cNvPr id="12" name="Rectangle 12"/>
            <p:cNvSpPr/>
            <p:nvPr/>
          </p:nvSpPr>
          <p:spPr>
            <a:xfrm>
              <a:off x="609600" y="2857500"/>
              <a:ext cx="1143000" cy="1143000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13" name="TextBox 13"/>
            <p:cNvSpPr txBox="1"/>
            <p:nvPr/>
          </p:nvSpPr>
          <p:spPr>
            <a:xfrm>
              <a:off x="971550" y="33464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欧盟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2050542" y="3111500"/>
              <a:ext cx="3284982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双反调查推进，税率与原产地规则待落地</a:t>
              </a:r>
            </a:p>
          </p:txBody>
        </p:sp>
        <p:sp>
          <p:nvSpPr>
            <p:cNvPr id="15" name="TextBox 15"/>
            <p:cNvSpPr txBox="1"/>
            <p:nvPr/>
          </p:nvSpPr>
          <p:spPr>
            <a:xfrm>
              <a:off x="2051304" y="3429000"/>
              <a:ext cx="5827776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欧盟对华乘用车胎贸易救济措施逐步落地，欧洲本地产能（如西班牙在建基地）的</a:t>
              </a:r>
            </a:p>
          </p:txBody>
        </p:sp>
        <p:sp>
          <p:nvSpPr>
            <p:cNvPr id="16" name="TextBox 16"/>
            <p:cNvSpPr txBox="1"/>
            <p:nvPr/>
          </p:nvSpPr>
          <p:spPr>
            <a:xfrm>
              <a:off x="2051304" y="3676650"/>
              <a:ext cx="275844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战略价值上升，渠道与品牌投入前置。</a:t>
              </a:r>
            </a:p>
          </p:txBody>
        </p:sp>
      </p:grpSp>
      <p:grpSp>
        <p:nvGrpSpPr>
          <p:cNvPr id="23" name="band-response"/>
          <p:cNvGrpSpPr/>
          <p:nvPr/>
        </p:nvGrpSpPr>
        <p:grpSpPr>
          <a:xfrm>
            <a:off x="609600" y="4229100"/>
            <a:ext cx="7431024" cy="1143000"/>
            <a:chOff x="609600" y="4229100"/>
            <a:chExt cx="7431024" cy="1143000"/>
          </a:xfrm>
        </p:grpSpPr>
        <p:sp>
          <p:nvSpPr>
            <p:cNvPr id="18" name="Rectangle 18"/>
            <p:cNvSpPr/>
            <p:nvPr/>
          </p:nvSpPr>
          <p:spPr>
            <a:xfrm>
              <a:off x="609600" y="4229100"/>
              <a:ext cx="1143000" cy="1143000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  <p:sp>
          <p:nvSpPr>
            <p:cNvPr id="19" name="TextBox 19"/>
            <p:cNvSpPr txBox="1"/>
            <p:nvPr/>
          </p:nvSpPr>
          <p:spPr>
            <a:xfrm>
              <a:off x="971550" y="47180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ctr"/>
              <a:r>
                <a:rPr lang="zh-CN" sz="15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应对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2050542" y="4483100"/>
              <a:ext cx="1649349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两梯队海外布局成型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2051304" y="4800600"/>
              <a:ext cx="5989320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第一梯队为泰国、越南、柬埔寨（成本与关税平衡），第二梯队为墨西哥、摩洛哥、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2051304" y="5048250"/>
              <a:ext cx="4503115" cy="234696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0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西班牙（贴近终端市场），资本开支高峰预计延续至 2027 年。</a:t>
              </a:r>
            </a:p>
          </p:txBody>
        </p:sp>
      </p:grpSp>
      <p:grpSp>
        <p:nvGrpSpPr>
          <p:cNvPr id="26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24" name="TextBox 24"/>
            <p:cNvSpPr txBox="1"/>
            <p:nvPr/>
          </p:nvSpPr>
          <p:spPr>
            <a:xfrm>
              <a:off x="604838" y="6356350"/>
              <a:ext cx="4238131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公开报道整理（框架示意） · Confidential — For discussion purposes only</a:t>
              </a:r>
            </a:p>
          </p:txBody>
        </p:sp>
        <p:sp>
          <p:nvSpPr>
            <p:cNvPr id="25" name="TextBox 25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7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" name="header"/>
          <p:cNvGrpSpPr/>
          <p:nvPr/>
        </p:nvGrpSpPr>
        <p:grpSpPr>
          <a:xfrm>
            <a:off x="598932" y="406400"/>
            <a:ext cx="10983468" cy="688975"/>
            <a:chOff x="598932" y="406400"/>
            <a:chExt cx="10983468" cy="688975"/>
          </a:xfrm>
        </p:grpSpPr>
        <p:sp>
          <p:nvSpPr>
            <p:cNvPr id="2" name="TextBox 2"/>
            <p:cNvSpPr txBox="1"/>
            <p:nvPr/>
          </p:nvSpPr>
          <p:spPr>
            <a:xfrm>
              <a:off x="604266" y="406400"/>
              <a:ext cx="717423" cy="205359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050" b="1" dirty="0">
                  <a:solidFill>
                    <a:srgbClr val="1F4E79"/>
                  </a:solidFill>
                  <a:latin typeface="+mn-lt"/>
                  <a:ea typeface="+mn-ea"/>
                  <a:cs typeface="+mn-cs"/>
                </a:rPr>
                <a:t>展望与风险</a:t>
              </a:r>
            </a:p>
          </p:txBody>
        </p:sp>
        <p:sp>
          <p:nvSpPr>
            <p:cNvPr id="3" name="TextBox 3"/>
            <p:cNvSpPr txBox="1"/>
            <p:nvPr/>
          </p:nvSpPr>
          <p:spPr>
            <a:xfrm>
              <a:off x="598932" y="660400"/>
              <a:ext cx="5675376" cy="41071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210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结构性机会在高端化与全球化，风险在价格战</a:t>
              </a:r>
            </a:p>
          </p:txBody>
        </p:sp>
        <p:sp>
          <p:nvSpPr>
            <p:cNvPr id="4" name="Rectangle 4"/>
            <p:cNvSpPr/>
            <p:nvPr/>
          </p:nvSpPr>
          <p:spPr>
            <a:xfrm>
              <a:off x="609600" y="1066800"/>
              <a:ext cx="10972800" cy="28575"/>
            </a:xfrm>
            <a:prstGeom prst="rect">
              <a:avLst/>
            </a:prstGeom>
            <a:solidFill>
              <a:srgbClr val="0B2C5C"/>
            </a:solidFill>
            <a:ln>
              <a:noFill/>
            </a:ln>
          </p:spPr>
        </p:sp>
      </p:grpSp>
      <p:grpSp>
        <p:nvGrpSpPr>
          <p:cNvPr id="15" name="opportunities"/>
          <p:cNvGrpSpPr/>
          <p:nvPr/>
        </p:nvGrpSpPr>
        <p:grpSpPr>
          <a:xfrm>
            <a:off x="601980" y="1555750"/>
            <a:ext cx="2878049" cy="3401378"/>
            <a:chOff x="601980" y="1555750"/>
            <a:chExt cx="2878049" cy="3401378"/>
          </a:xfrm>
        </p:grpSpPr>
        <p:sp>
          <p:nvSpPr>
            <p:cNvPr id="6" name="TextBox 6"/>
            <p:cNvSpPr txBox="1"/>
            <p:nvPr/>
          </p:nvSpPr>
          <p:spPr>
            <a:xfrm>
              <a:off x="601980" y="15557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0B2C5C"/>
                  </a:solidFill>
                  <a:latin typeface="+mn-lt"/>
                  <a:ea typeface="+mn-ea"/>
                  <a:cs typeface="+mn-cs"/>
                </a:rPr>
                <a:t>机会</a:t>
              </a:r>
            </a:p>
          </p:txBody>
        </p:sp>
        <p:sp>
          <p:nvSpPr>
            <p:cNvPr id="7" name="TextBox 7"/>
            <p:cNvSpPr txBox="1"/>
            <p:nvPr/>
          </p:nvSpPr>
          <p:spPr>
            <a:xfrm>
              <a:off x="603123" y="2057400"/>
              <a:ext cx="1142161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EV 专用胎放量</a:t>
              </a:r>
            </a:p>
          </p:txBody>
        </p:sp>
        <p:sp>
          <p:nvSpPr>
            <p:cNvPr id="8" name="TextBox 8"/>
            <p:cNvSpPr txBox="1"/>
            <p:nvPr/>
          </p:nvSpPr>
          <p:spPr>
            <a:xfrm>
              <a:off x="603885" y="233680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单价高出约三成，静音与低滚阻溢价可持续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603123" y="2857500"/>
              <a:ext cx="156377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品牌出海与渠道自建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603885" y="31369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从代工供货走向自主品牌，毛利中枢上移</a:t>
              </a:r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603123" y="36576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集中度继续提升</a:t>
              </a:r>
            </a:p>
          </p:txBody>
        </p:sp>
        <p:sp>
          <p:nvSpPr>
            <p:cNvPr id="12" name="TextBox 12"/>
            <p:cNvSpPr txBox="1"/>
            <p:nvPr/>
          </p:nvSpPr>
          <p:spPr>
            <a:xfrm>
              <a:off x="603885" y="3937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环保与能耗标准抬升门槛，尾部产能出清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603123" y="44577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原材料中枢下移</a:t>
              </a:r>
            </a:p>
          </p:txBody>
        </p:sp>
        <p:sp>
          <p:nvSpPr>
            <p:cNvPr id="14" name="TextBox 14"/>
            <p:cNvSpPr txBox="1"/>
            <p:nvPr/>
          </p:nvSpPr>
          <p:spPr>
            <a:xfrm>
              <a:off x="603885" y="473710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天然橡胶供给增量释放，成本压力边际缓解</a:t>
              </a:r>
            </a:p>
          </p:txBody>
        </p:sp>
      </p:grpSp>
      <p:grpSp>
        <p:nvGrpSpPr>
          <p:cNvPr id="25" name="risks"/>
          <p:cNvGrpSpPr/>
          <p:nvPr/>
        </p:nvGrpSpPr>
        <p:grpSpPr>
          <a:xfrm>
            <a:off x="6393180" y="1555750"/>
            <a:ext cx="2878049" cy="3401378"/>
            <a:chOff x="6393180" y="1555750"/>
            <a:chExt cx="2878049" cy="3401378"/>
          </a:xfrm>
        </p:grpSpPr>
        <p:sp>
          <p:nvSpPr>
            <p:cNvPr id="16" name="TextBox 16"/>
            <p:cNvSpPr txBox="1"/>
            <p:nvPr/>
          </p:nvSpPr>
          <p:spPr>
            <a:xfrm>
              <a:off x="6393180" y="1555750"/>
              <a:ext cx="419100" cy="29337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500" b="1" dirty="0">
                  <a:solidFill>
                    <a:srgbClr val="A6192E"/>
                  </a:solidFill>
                  <a:latin typeface="+mn-lt"/>
                  <a:ea typeface="+mn-ea"/>
                  <a:cs typeface="+mn-cs"/>
                </a:rPr>
                <a:t>风险</a:t>
              </a:r>
            </a:p>
          </p:txBody>
        </p:sp>
        <p:sp>
          <p:nvSpPr>
            <p:cNvPr id="17" name="TextBox 17"/>
            <p:cNvSpPr txBox="1"/>
            <p:nvPr/>
          </p:nvSpPr>
          <p:spPr>
            <a:xfrm>
              <a:off x="6394323" y="2057400"/>
              <a:ext cx="874522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国内价格战</a:t>
              </a:r>
            </a:p>
          </p:txBody>
        </p:sp>
        <p:sp>
          <p:nvSpPr>
            <p:cNvPr id="18" name="TextBox 18"/>
            <p:cNvSpPr txBox="1"/>
            <p:nvPr/>
          </p:nvSpPr>
          <p:spPr>
            <a:xfrm>
              <a:off x="6395085" y="2336800"/>
              <a:ext cx="2876144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半钢产能过剩，经销价倒挂压制全行业毛利</a:t>
              </a:r>
            </a:p>
          </p:txBody>
        </p:sp>
        <p:sp>
          <p:nvSpPr>
            <p:cNvPr id="19" name="TextBox 19"/>
            <p:cNvSpPr txBox="1"/>
            <p:nvPr/>
          </p:nvSpPr>
          <p:spPr>
            <a:xfrm>
              <a:off x="6394323" y="2857500"/>
              <a:ext cx="1046836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贸易壁垒扩围</a:t>
              </a:r>
            </a:p>
          </p:txBody>
        </p:sp>
        <p:sp>
          <p:nvSpPr>
            <p:cNvPr id="20" name="TextBox 20"/>
            <p:cNvSpPr txBox="1"/>
            <p:nvPr/>
          </p:nvSpPr>
          <p:spPr>
            <a:xfrm>
              <a:off x="6395085" y="31369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针对东南亚产能的原产地核查与新增措施</a:t>
              </a:r>
            </a:p>
          </p:txBody>
        </p:sp>
        <p:sp>
          <p:nvSpPr>
            <p:cNvPr id="21" name="TextBox 21"/>
            <p:cNvSpPr txBox="1"/>
            <p:nvPr/>
          </p:nvSpPr>
          <p:spPr>
            <a:xfrm>
              <a:off x="6394323" y="3657600"/>
              <a:ext cx="1219149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海外执行与汇率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6395085" y="39370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建厂延期、用工与汇率波动侵蚀测算回报</a:t>
              </a:r>
            </a:p>
          </p:txBody>
        </p:sp>
        <p:sp>
          <p:nvSpPr>
            <p:cNvPr id="23" name="TextBox 23"/>
            <p:cNvSpPr txBox="1"/>
            <p:nvPr/>
          </p:nvSpPr>
          <p:spPr>
            <a:xfrm>
              <a:off x="6394323" y="4457700"/>
              <a:ext cx="702208" cy="250317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280" b="1" dirty="0">
                  <a:solidFill>
                    <a:srgbClr val="14243D"/>
                  </a:solidFill>
                  <a:latin typeface="+mn-lt"/>
                  <a:ea typeface="+mn-ea"/>
                  <a:cs typeface="+mn-cs"/>
                </a:rPr>
                <a:t>需求波动</a:t>
              </a:r>
            </a:p>
          </p:txBody>
        </p:sp>
        <p:sp>
          <p:nvSpPr>
            <p:cNvPr id="24" name="TextBox 24"/>
            <p:cNvSpPr txBox="1"/>
            <p:nvPr/>
          </p:nvSpPr>
          <p:spPr>
            <a:xfrm>
              <a:off x="6395085" y="4737100"/>
              <a:ext cx="2725369" cy="220028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120" dirty="0">
                  <a:solidFill>
                    <a:srgbClr val="5A6B84"/>
                  </a:solidFill>
                  <a:latin typeface="+mn-lt"/>
                  <a:ea typeface="+mn-ea"/>
                  <a:cs typeface="+mn-cs"/>
                </a:rPr>
                <a:t>配套需求随整车产销与物流景气周期波动</a:t>
              </a:r>
            </a:p>
          </p:txBody>
        </p:sp>
      </p:grpSp>
      <p:grpSp>
        <p:nvGrpSpPr>
          <p:cNvPr id="28" name="footer"/>
          <p:cNvGrpSpPr/>
          <p:nvPr/>
        </p:nvGrpSpPr>
        <p:grpSpPr>
          <a:xfrm>
            <a:off x="604838" y="6356350"/>
            <a:ext cx="10982325" cy="161925"/>
            <a:chOff x="604838" y="6356350"/>
            <a:chExt cx="10982325" cy="161925"/>
          </a:xfrm>
        </p:grpSpPr>
        <p:sp>
          <p:nvSpPr>
            <p:cNvPr id="26" name="TextBox 26"/>
            <p:cNvSpPr txBox="1"/>
            <p:nvPr/>
          </p:nvSpPr>
          <p:spPr>
            <a:xfrm>
              <a:off x="604838" y="6356350"/>
              <a:ext cx="4017354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Source: 示例框架（演示口径） · Confidential — For discussion purposes only</a:t>
              </a:r>
            </a:p>
          </p:txBody>
        </p:sp>
        <p:sp>
          <p:nvSpPr>
            <p:cNvPr id="27" name="TextBox 27"/>
            <p:cNvSpPr txBox="1"/>
            <p:nvPr/>
          </p:nvSpPr>
          <p:spPr>
            <a:xfrm>
              <a:off x="11516924" y="6356350"/>
              <a:ext cx="70239" cy="161925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r"/>
              <a:r>
                <a:rPr lang="zh-CN" sz="820" dirty="0">
                  <a:solidFill>
                    <a:srgbClr val="6E7B8D"/>
                  </a:solidFill>
                  <a:latin typeface="+mn-lt"/>
                  <a:ea typeface="+mn-ea"/>
                  <a:cs typeface="+mn-cs"/>
                </a:rPr>
                <a:t>8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2C5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closing-main"/>
          <p:cNvGrpSpPr/>
          <p:nvPr/>
        </p:nvGrpSpPr>
        <p:grpSpPr>
          <a:xfrm>
            <a:off x="899160" y="1333500"/>
            <a:ext cx="5419687" cy="2156333"/>
            <a:chOff x="899160" y="1333500"/>
            <a:chExt cx="5419687" cy="2156333"/>
          </a:xfrm>
        </p:grpSpPr>
        <p:sp>
          <p:nvSpPr>
            <p:cNvPr id="2" name="Rectangle 2"/>
            <p:cNvSpPr/>
            <p:nvPr/>
          </p:nvSpPr>
          <p:spPr>
            <a:xfrm>
              <a:off x="914400" y="1333500"/>
              <a:ext cx="609600" cy="57150"/>
            </a:xfrm>
            <a:prstGeom prst="rect">
              <a:avLst/>
            </a:prstGeom>
            <a:solidFill>
              <a:srgbClr val="B9975B"/>
            </a:solidFill>
            <a:ln>
              <a:noFill/>
            </a:ln>
          </p:spPr>
        </p:sp>
        <p:sp>
          <p:nvSpPr>
            <p:cNvPr id="3" name="TextBox 3"/>
            <p:cNvSpPr txBox="1"/>
            <p:nvPr/>
          </p:nvSpPr>
          <p:spPr>
            <a:xfrm>
              <a:off x="899160" y="1689100"/>
              <a:ext cx="2453640" cy="586740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3000" b="1" dirty="0">
                  <a:solidFill>
                    <a:srgbClr val="FFFFFF"/>
                  </a:solidFill>
                  <a:latin typeface="+mn-lt"/>
                  <a:ea typeface="+mn-ea"/>
                  <a:cs typeface="+mn-cs"/>
                </a:rPr>
                <a:t>结论与下一步</a:t>
              </a:r>
            </a:p>
          </p:txBody>
        </p:sp>
        <p:sp>
          <p:nvSpPr>
            <p:cNvPr id="4" name="TextBox 4"/>
            <p:cNvSpPr txBox="1"/>
            <p:nvPr/>
          </p:nvSpPr>
          <p:spPr>
            <a:xfrm>
              <a:off x="907542" y="2463800"/>
              <a:ext cx="5411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4E8"/>
                  </a:solidFill>
                  <a:latin typeface="+mn-lt"/>
                  <a:ea typeface="+mn-ea"/>
                  <a:cs typeface="+mn-cs"/>
                </a:rPr>
                <a:t>1 · 跟踪季度的产能投放与海外基地爬坡进度，更新产量与份额测算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907542" y="2844800"/>
              <a:ext cx="5411305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4E8"/>
                  </a:solidFill>
                  <a:latin typeface="+mn-lt"/>
                  <a:ea typeface="+mn-ea"/>
                  <a:cs typeface="+mn-cs"/>
                </a:rPr>
                <a:t>2 · 锁定欧盟双反税率终裁与原产地规则细则，评估欧洲基地优先级</a:t>
              </a:r>
            </a:p>
          </p:txBody>
        </p:sp>
        <p:sp>
          <p:nvSpPr>
            <p:cNvPr id="6" name="TextBox 6"/>
            <p:cNvSpPr txBox="1"/>
            <p:nvPr/>
          </p:nvSpPr>
          <p:spPr>
            <a:xfrm>
              <a:off x="907542" y="3225800"/>
              <a:ext cx="5047831" cy="26403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1350" dirty="0">
                  <a:solidFill>
                    <a:srgbClr val="C9D4E8"/>
                  </a:solidFill>
                  <a:latin typeface="+mn-lt"/>
                  <a:ea typeface="+mn-ea"/>
                  <a:cs typeface="+mn-cs"/>
                </a:rPr>
                <a:t>3 · 建立天然橡胶价格月度跟踪，联动毛利率敏感性表滚动更新</a:t>
              </a:r>
            </a:p>
          </p:txBody>
        </p:sp>
      </p:grpSp>
      <p:grpSp>
        <p:nvGrpSpPr>
          <p:cNvPr id="11" name="closing-note"/>
          <p:cNvGrpSpPr/>
          <p:nvPr/>
        </p:nvGrpSpPr>
        <p:grpSpPr>
          <a:xfrm>
            <a:off x="909447" y="4991100"/>
            <a:ext cx="5946648" cy="839343"/>
            <a:chOff x="909447" y="4991100"/>
            <a:chExt cx="5946648" cy="839343"/>
          </a:xfrm>
        </p:grpSpPr>
        <p:sp>
          <p:nvSpPr>
            <p:cNvPr id="8" name="TextBox 8"/>
            <p:cNvSpPr txBox="1"/>
            <p:nvPr/>
          </p:nvSpPr>
          <p:spPr>
            <a:xfrm>
              <a:off x="909447" y="4991100"/>
              <a:ext cx="59466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FA3C4"/>
                  </a:solidFill>
                  <a:latin typeface="+mn-lt"/>
                  <a:ea typeface="+mn-ea"/>
                  <a:cs typeface="+mn-cs"/>
                </a:rPr>
                <a:t>口径与来源说明：本稿为投行风格演示样例，全部数字均为示例数据（演示口径），不构成投资建议；</a:t>
              </a:r>
            </a:p>
          </p:txBody>
        </p:sp>
        <p:sp>
          <p:nvSpPr>
            <p:cNvPr id="9" name="TextBox 9"/>
            <p:cNvSpPr txBox="1"/>
            <p:nvPr/>
          </p:nvSpPr>
          <p:spPr>
            <a:xfrm>
              <a:off x="909447" y="5219700"/>
              <a:ext cx="4099662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FA3C4"/>
                  </a:solidFill>
                  <a:latin typeface="+mn-lt"/>
                  <a:ea typeface="+mn-ea"/>
                  <a:cs typeface="+mn-cs"/>
                </a:rPr>
                <a:t>正式使用时须以公司公告、行业协会与海关数据替换并逐项标注来源。</a:t>
              </a:r>
            </a:p>
          </p:txBody>
        </p:sp>
        <p:sp>
          <p:nvSpPr>
            <p:cNvPr id="10" name="TextBox 10"/>
            <p:cNvSpPr txBox="1"/>
            <p:nvPr/>
          </p:nvSpPr>
          <p:spPr>
            <a:xfrm>
              <a:off x="909447" y="5638800"/>
              <a:ext cx="4134948" cy="191643"/>
            </a:xfrm>
            <a:prstGeom prst="rect">
              <a:avLst/>
            </a:prstGeom>
            <a:noFill/>
            <a:ln>
              <a:noFill/>
            </a:ln>
          </p:spPr>
          <p:txBody>
            <a:bodyPr wrap="none" lIns="0" tIns="0" rIns="0" bIns="0" anchor="t" anchorCtr="0">
              <a:spAutoFit/>
            </a:bodyPr>
            <a:lstStyle/>
            <a:p>
              <a:pPr algn="l"/>
              <a:r>
                <a:rPr lang="zh-CN" sz="980" dirty="0">
                  <a:solidFill>
                    <a:srgbClr val="8FA3C4"/>
                  </a:solidFill>
                  <a:latin typeface="+mn-lt"/>
                  <a:ea typeface="+mn-ea"/>
                  <a:cs typeface="+mn-cs"/>
                </a:rPr>
                <a:t>Confidential — For discussion purposes only · 机密 — 仅供讨论使用</a:t>
              </a:r>
            </a:p>
          </p:txBody>
        </p:sp>
      </p:grpSp>
    </p:spTree>
  </p:cSld>
  <p:clrMapOvr>
    <a:masterClrMapping/>
  </p:clrMapOvr>
  <p:transition xmlns:p14="http://schemas.microsoft.com/office/powerpoint/2010/main" p14:dur="400">
    <p:fade/>
  </p:transition>
</p:sld>
</file>

<file path=ppt/theme/theme1.xml><?xml version="1.0" encoding="utf-8"?>
<a:theme xmlns:a="http://schemas.openxmlformats.org/drawingml/2006/main" name="china-tire-industry-ib">
  <a:themeElements>
    <a:clrScheme name="china-tire-industry-ib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china-tire-industry-ib">
      <a:maj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Microsoft YaHei"/>
        <a:ea typeface="Microsoft YaHei"/>
        <a:cs typeface="Microsoft YaHei"/>
        <a:font script="Jpan" typeface="Microsoft YaHei"/>
        <a:font script="Hang" typeface="Microsoft YaHei"/>
        <a:font script="Hans" typeface="Microsoft YaHei"/>
        <a:font script="Hant" typeface="Microsoft YaHei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hina-tire-industry-ib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On-screen Show (16:9)</PresentationFormat>
  <Paragraphs>0</Paragraphs>
  <Slides>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/>
  <dc:language>zh-CN</dc:language>
  <cp:lastModifiedBy/>
  <cp:revision>1</cp:revision>
  <dcterms:created xsi:type="dcterms:W3CDTF">2026-10-25T15:19:53Z</dcterms:created>
  <dcterms:modified xsi:type="dcterms:W3CDTF">2026-10-25T15:19:53Z</dcterms:modified>
  <cp:category/>
  <cp:contentStatus/>
</cp:coreProperties>
</file>